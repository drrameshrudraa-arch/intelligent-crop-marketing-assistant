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81" r:id="rId7"/>
    <p:sldId id="279" r:id="rId8"/>
    <p:sldId id="291" r:id="rId9"/>
    <p:sldId id="296" r:id="rId10"/>
    <p:sldId id="264" r:id="rId11"/>
    <p:sldId id="277" r:id="rId12"/>
    <p:sldId id="290" r:id="rId13"/>
    <p:sldId id="286" r:id="rId14"/>
    <p:sldId id="287" r:id="rId15"/>
    <p:sldId id="280" r:id="rId16"/>
    <p:sldId id="288" r:id="rId17"/>
    <p:sldId id="289" r:id="rId18"/>
    <p:sldId id="295"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70" d="100"/>
          <a:sy n="70" d="100"/>
        </p:scale>
        <p:origin x="-720" y="-30"/>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 xmlns:p14="http://schemas.microsoft.com/office/powerpoint/2010/main" val="210537471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02593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xmlns=""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xmlns=""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xmlns=""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xmlns=""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xmlns=""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xmlns=""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xmlns=""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4586736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2842077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xmlns=""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xmlns=""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xmlns=""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xmlns=""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xmlns=""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xmlns=""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2515606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drrameshrudraa-arch/Intelligent-Crop-Marketing-Assistant.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xmlns=""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 xmlns:p14="http://schemas.microsoft.com/office/powerpoint/2010/main" val="957564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 xmlns:p14="http://schemas.microsoft.com/office/powerpoint/2010/main" val="157244710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xmlns="" val="20000"/>
                    </a:ext>
                  </a:extLst>
                </a:gridCol>
                <a:gridCol w="2443374">
                  <a:extLst>
                    <a:ext uri="{9D8B030D-6E8A-4147-A177-3AD203B41FA5}">
                      <a16:colId xmlns:a16="http://schemas.microsoft.com/office/drawing/2014/main" xmlns="" val="20002"/>
                    </a:ext>
                  </a:extLst>
                </a:gridCol>
                <a:gridCol w="2443374">
                  <a:extLst>
                    <a:ext uri="{9D8B030D-6E8A-4147-A177-3AD203B41FA5}">
                      <a16:colId xmlns:a16="http://schemas.microsoft.com/office/drawing/2014/main" xmlns="" val="20003"/>
                    </a:ext>
                  </a:extLst>
                </a:gridCol>
                <a:gridCol w="2443374">
                  <a:extLst>
                    <a:ext uri="{9D8B030D-6E8A-4147-A177-3AD203B41FA5}">
                      <a16:colId xmlns:a16="http://schemas.microsoft.com/office/drawing/2014/main" xmlns=""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xmlns="" val="10000"/>
                  </a:ext>
                </a:extLst>
              </a:tr>
              <a:tr h="1193891">
                <a:tc>
                  <a:txBody>
                    <a:bodyPr/>
                    <a:lstStyle/>
                    <a:p>
                      <a:pPr marL="0" marR="0" lvl="0" indent="0" algn="l" rtl="0">
                        <a:spcBef>
                          <a:spcPts val="0"/>
                        </a:spcBef>
                        <a:spcAft>
                          <a:spcPts val="0"/>
                        </a:spcAft>
                        <a:buNone/>
                      </a:pPr>
                      <a:r>
                        <a:rPr lang="en-US" sz="1800" dirty="0" smtClean="0"/>
                        <a:t>RAMESH RUDRARAM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dr.rameshrudraa@gmail.com</a:t>
                      </a:r>
                      <a:endParaRPr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000" dirty="0" smtClean="0"/>
                        <a:t>9949524149</a:t>
                      </a:r>
                      <a:endParaRPr sz="20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xmlns="" val="10001"/>
                  </a:ext>
                </a:extLst>
              </a:tr>
            </a:tbl>
          </a:graphicData>
        </a:graphic>
      </p:graphicFrame>
      <p:sp>
        <p:nvSpPr>
          <p:cNvPr id="4" name="TextBox 3">
            <a:extLst>
              <a:ext uri="{FF2B5EF4-FFF2-40B4-BE49-F238E27FC236}">
                <a16:creationId xmlns:a16="http://schemas.microsoft.com/office/drawing/2014/main" xmlns=""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t>Agriculture</a:t>
            </a:r>
            <a:r>
              <a:rPr lang="en-US" sz="2400" b="1" dirty="0" smtClean="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xmlns=""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solidFill>
                  <a:schemeClr val="tx2">
                    <a:lumMod val="10000"/>
                  </a:schemeClr>
                </a:solidFill>
              </a:rPr>
              <a:t>Intelligent </a:t>
            </a:r>
            <a:r>
              <a:rPr lang="en-US" sz="2400" b="1" dirty="0">
                <a:solidFill>
                  <a:schemeClr val="tx2">
                    <a:lumMod val="10000"/>
                  </a:schemeClr>
                </a:solidFill>
              </a:rPr>
              <a:t>Crop Marketing </a:t>
            </a:r>
            <a:r>
              <a:rPr lang="en-US" sz="2400" b="1" dirty="0" smtClean="0">
                <a:solidFill>
                  <a:schemeClr val="tx2">
                    <a:lumMod val="10000"/>
                  </a:schemeClr>
                </a:solidFill>
              </a:rPr>
              <a:t>Assistant</a:t>
            </a:r>
            <a:endParaRPr lang="en-IN" sz="2400" b="1" dirty="0">
              <a:highlight>
                <a:srgbClr val="FFFF00"/>
              </a:highlight>
            </a:endParaRPr>
          </a:p>
        </p:txBody>
      </p:sp>
      <p:sp>
        <p:nvSpPr>
          <p:cNvPr id="3" name="TextBox 2">
            <a:extLst>
              <a:ext uri="{FF2B5EF4-FFF2-40B4-BE49-F238E27FC236}">
                <a16:creationId xmlns:a16="http://schemas.microsoft.com/office/drawing/2014/main" xmlns=""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r>
              <a:rPr lang="en-US" sz="2000"/>
              <a:t/>
            </a: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9" name="Picture 2" descr="C:\Users\JITS\Downloads\WhatsApp Image 2026-06-29 at 3.04.44 PM.jpeg"/>
          <p:cNvPicPr>
            <a:picLocks noChangeAspect="1" noChangeArrowheads="1"/>
          </p:cNvPicPr>
          <p:nvPr/>
        </p:nvPicPr>
        <p:blipFill>
          <a:blip r:embed="rId3"/>
          <a:srcRect/>
          <a:stretch>
            <a:fillRect/>
          </a:stretch>
        </p:blipFill>
        <p:spPr bwMode="auto">
          <a:xfrm>
            <a:off x="3805646" y="3631473"/>
            <a:ext cx="1672045" cy="1105989"/>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C6F6745E-14BA-0766-CE1E-32E29663832D}"/>
              </a:ext>
            </a:extLst>
          </p:cNvPr>
          <p:cNvSpPr txBox="1"/>
          <p:nvPr/>
        </p:nvSpPr>
        <p:spPr>
          <a:xfrm>
            <a:off x="576072" y="1234440"/>
            <a:ext cx="10607040" cy="5016758"/>
          </a:xfrm>
          <a:prstGeom prst="rect">
            <a:avLst/>
          </a:prstGeom>
          <a:noFill/>
        </p:spPr>
        <p:txBody>
          <a:bodyPr wrap="square" rtlCol="0">
            <a:spAutoFit/>
          </a:bodyPr>
          <a:lstStyle/>
          <a:p>
            <a:pPr algn="just"/>
            <a:r>
              <a:rPr lang="en-US" sz="1800" b="1" dirty="0" smtClean="0"/>
              <a:t>The Challenge</a:t>
            </a:r>
          </a:p>
          <a:p>
            <a:pPr algn="just"/>
            <a:endParaRPr lang="en-US" sz="1800" b="1" dirty="0"/>
          </a:p>
          <a:p>
            <a:pPr algn="just"/>
            <a:r>
              <a:rPr lang="en-US" sz="1800" dirty="0"/>
              <a:t>Farmers often sell their crops without access to real-time market information, resulting in lower profits and poor selling decisions. Fluctuating market prices, transportation costs, demand trends, and government procurement policies make it difficult to identify the best market and selling time. An AI-powered solution is needed to provide personalized, data-driven recommendations that help farmers maximize their income</a:t>
            </a:r>
            <a:r>
              <a:rPr lang="en-US" sz="1800" dirty="0" smtClean="0"/>
              <a:t>.</a:t>
            </a:r>
          </a:p>
          <a:p>
            <a:pPr algn="just"/>
            <a:endParaRPr lang="en-US" sz="1800" dirty="0"/>
          </a:p>
          <a:p>
            <a:pPr algn="just"/>
            <a:r>
              <a:rPr lang="en-US" sz="1800" b="1" dirty="0"/>
              <a:t>The </a:t>
            </a:r>
            <a:r>
              <a:rPr lang="en-US" sz="1800" b="1" dirty="0" smtClean="0"/>
              <a:t>Objective</a:t>
            </a:r>
          </a:p>
          <a:p>
            <a:pPr algn="just"/>
            <a:endParaRPr lang="en-US" sz="1800" b="1" dirty="0"/>
          </a:p>
          <a:p>
            <a:pPr algn="just"/>
            <a:r>
              <a:rPr lang="en-US" sz="1800" dirty="0"/>
              <a:t>Develop </a:t>
            </a:r>
            <a:r>
              <a:rPr lang="en-US" sz="1800" dirty="0" err="1"/>
              <a:t>AgriMarket</a:t>
            </a:r>
            <a:r>
              <a:rPr lang="en-US" sz="1800" dirty="0"/>
              <a:t> AI, an Agentic AI Crop Marketing Assistant using IBM watsonx.ai Granite Models, IBM Bob (</a:t>
            </a:r>
            <a:r>
              <a:rPr lang="en-US" sz="1800" dirty="0" err="1"/>
              <a:t>watsonx</a:t>
            </a:r>
            <a:r>
              <a:rPr lang="en-US" sz="1800" dirty="0"/>
              <a:t> Orchestrate), and IBM Cloud. The solution uses two AI agents: a Market Intelligence Agent to collect real-time crop prices, demand trends, and government schemes, and a Decision Agent to analyze transportation costs, price forecasts, and market conditions to recommend the optimal market, selling time, and pricing strategy. The application delivers transparent insights through an interactive dashboard, enabling farmers to make informed decisions and improve profitability.</a:t>
            </a:r>
          </a:p>
          <a:p>
            <a:pPr fontAlgn="base"/>
            <a:endParaRPr lang="en-IN" dirty="0"/>
          </a:p>
        </p:txBody>
      </p:sp>
      <p:sp>
        <p:nvSpPr>
          <p:cNvPr id="3" name="TextBox 2">
            <a:extLst>
              <a:ext uri="{FF2B5EF4-FFF2-40B4-BE49-F238E27FC236}">
                <a16:creationId xmlns:a16="http://schemas.microsoft.com/office/drawing/2014/main" xmlns=""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a:t>
            </a:r>
            <a:r>
              <a:rPr lang="en-US" sz="2400" b="1" dirty="0" smtClean="0"/>
              <a:t>Statement</a:t>
            </a:r>
            <a:endParaRPr lang="en-IN" sz="2400" b="1" dirty="0"/>
          </a:p>
        </p:txBody>
      </p:sp>
    </p:spTree>
    <p:extLst>
      <p:ext uri="{BB962C8B-B14F-4D97-AF65-F5344CB8AC3E}">
        <p14:creationId xmlns="" xmlns:p14="http://schemas.microsoft.com/office/powerpoint/2010/main" val="2952584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4A1BF701-ABCA-4DF0-8330-B6AF71EF8E39}"/>
              </a:ext>
            </a:extLst>
          </p:cNvPr>
          <p:cNvSpPr txBox="1"/>
          <p:nvPr/>
        </p:nvSpPr>
        <p:spPr>
          <a:xfrm>
            <a:off x="576072" y="1234440"/>
            <a:ext cx="10607040" cy="5447645"/>
          </a:xfrm>
          <a:prstGeom prst="rect">
            <a:avLst/>
          </a:prstGeom>
          <a:noFill/>
        </p:spPr>
        <p:txBody>
          <a:bodyPr wrap="square" rtlCol="0">
            <a:spAutoFit/>
          </a:bodyPr>
          <a:lstStyle/>
          <a:p>
            <a:pPr algn="just"/>
            <a:r>
              <a:rPr lang="en-US" sz="2000" dirty="0" smtClean="0"/>
              <a:t>The </a:t>
            </a:r>
            <a:r>
              <a:rPr lang="en-US" sz="2000" dirty="0"/>
              <a:t>proposed solution is a multi-agent AI-powered Crop Marketing Assistant built using IBM Bob (</a:t>
            </a:r>
            <a:r>
              <a:rPr lang="en-US" sz="2000" dirty="0" err="1"/>
              <a:t>watsonx</a:t>
            </a:r>
            <a:r>
              <a:rPr lang="en-US" sz="2000" dirty="0"/>
              <a:t> Orchestrate), IBM watsonx.ai, IBM Cloud, and Granite Foundation Models to help farmers maximize profits through intelligent marketing decisions. The system leverages a Retrieval-Augmented Generation (RAG) pipeline to retrieve real-time crop prices, demand trends, nearby market information, and government procurement schemes from trusted sources.</a:t>
            </a:r>
          </a:p>
          <a:p>
            <a:pPr algn="just"/>
            <a:r>
              <a:rPr lang="en-US" sz="2000" dirty="0"/>
              <a:t>The solution consists of two AI agents:</a:t>
            </a:r>
          </a:p>
          <a:p>
            <a:pPr algn="just"/>
            <a:r>
              <a:rPr lang="en-US" sz="2000" dirty="0"/>
              <a:t>Market Intelligence Agent – Retrieves and summarizes live market prices, demand trends, MSP, and nearby market information using RAG. </a:t>
            </a:r>
          </a:p>
          <a:p>
            <a:pPr algn="just"/>
            <a:r>
              <a:rPr lang="en-US" sz="2000" dirty="0"/>
              <a:t>Decision Agent – Analyzes transportation costs, price forecasts, and market conditions to recommend the best market, optimal selling time, and pricing strategy. </a:t>
            </a:r>
          </a:p>
          <a:p>
            <a:pPr algn="just"/>
            <a:r>
              <a:rPr lang="en-US" sz="2000" dirty="0"/>
              <a:t>A </a:t>
            </a:r>
            <a:r>
              <a:rPr lang="en-US" sz="2000" dirty="0" err="1"/>
              <a:t>Streamlit</a:t>
            </a:r>
            <a:r>
              <a:rPr lang="en-US" sz="2000" dirty="0"/>
              <a:t>/React dashboard displays market comparisons, price trends, estimated profits, and AI-powered recommendations through interactive charts and cards. IBM Bob orchestrates the agent workflow, while Granite Models provide reasoning and personalized recommendations. The solution enables farmers to make transparent, data-driven marketing decisions, increase profitability, and reduce dependence on intermediaries.</a:t>
            </a:r>
          </a:p>
          <a:p>
            <a:pPr fontAlgn="base"/>
            <a:endParaRPr lang="en-US" dirty="0"/>
          </a:p>
          <a:p>
            <a:endParaRPr lang="en-IN" dirty="0"/>
          </a:p>
        </p:txBody>
      </p:sp>
      <p:sp>
        <p:nvSpPr>
          <p:cNvPr id="3" name="TextBox 2">
            <a:extLst>
              <a:ext uri="{FF2B5EF4-FFF2-40B4-BE49-F238E27FC236}">
                <a16:creationId xmlns:a16="http://schemas.microsoft.com/office/drawing/2014/main" xmlns="" id="{527F30CC-07EF-8FCC-DA00-C9212F5DAECE}"/>
              </a:ext>
            </a:extLst>
          </p:cNvPr>
          <p:cNvSpPr txBox="1"/>
          <p:nvPr/>
        </p:nvSpPr>
        <p:spPr>
          <a:xfrm>
            <a:off x="576072" y="403443"/>
            <a:ext cx="10607040" cy="830997"/>
          </a:xfrm>
          <a:prstGeom prst="rect">
            <a:avLst/>
          </a:prstGeom>
          <a:noFill/>
        </p:spPr>
        <p:txBody>
          <a:bodyPr wrap="square" rtlCol="0">
            <a:spAutoFit/>
          </a:bodyPr>
          <a:lstStyle/>
          <a:p>
            <a:r>
              <a:rPr lang="en-US" sz="2400" b="1" dirty="0" smtClean="0"/>
              <a:t>Proposed </a:t>
            </a:r>
            <a:r>
              <a:rPr lang="en-US" sz="2400" b="1" dirty="0"/>
              <a:t>Solution: AI-Powered Crop Marketing Assistant</a:t>
            </a:r>
          </a:p>
          <a:p>
            <a:endParaRPr lang="en-IN" sz="2400" b="1" dirty="0"/>
          </a:p>
        </p:txBody>
      </p:sp>
    </p:spTree>
    <p:extLst>
      <p:ext uri="{BB962C8B-B14F-4D97-AF65-F5344CB8AC3E}">
        <p14:creationId xmlns="" xmlns:p14="http://schemas.microsoft.com/office/powerpoint/2010/main" val="2290294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xmlns=""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r>
              <a:rPr lang="en-US" sz="1800" b="1" dirty="0"/>
              <a:t>IBM </a:t>
            </a:r>
            <a:r>
              <a:rPr lang="en-US" sz="1800" b="1" dirty="0" smtClean="0"/>
              <a:t>Watson </a:t>
            </a:r>
            <a:r>
              <a:rPr lang="en-US" sz="1800" b="1" dirty="0" err="1" smtClean="0"/>
              <a:t>studio,watson</a:t>
            </a:r>
            <a:r>
              <a:rPr lang="en-US" sz="1800" b="1" dirty="0" smtClean="0"/>
              <a:t> </a:t>
            </a:r>
            <a:r>
              <a:rPr lang="en-US" sz="1800" b="1" dirty="0" err="1" smtClean="0"/>
              <a:t>runtime,cloud</a:t>
            </a:r>
            <a:r>
              <a:rPr lang="en-US" sz="1800" b="1" dirty="0" smtClean="0"/>
              <a:t> object </a:t>
            </a:r>
            <a:r>
              <a:rPr lang="en-US" sz="1800" b="1" dirty="0" err="1" smtClean="0"/>
              <a:t>storsge</a:t>
            </a:r>
            <a:r>
              <a:rPr lang="en-US" sz="1800" b="1" dirty="0" smtClean="0"/>
              <a:t> – </a:t>
            </a:r>
            <a:r>
              <a:rPr lang="en-US" sz="1800" dirty="0" smtClean="0"/>
              <a:t>For</a:t>
            </a:r>
            <a:r>
              <a:rPr lang="en-US" sz="1800" b="1" dirty="0" smtClean="0"/>
              <a:t> </a:t>
            </a:r>
            <a:r>
              <a:rPr lang="en-US" sz="1800" dirty="0" smtClean="0"/>
              <a:t>creating new project on IBM cloud</a:t>
            </a:r>
          </a:p>
          <a:p>
            <a:pPr marL="285750" indent="-285750">
              <a:buFont typeface="Arial" panose="020B0604020202020204" pitchFamily="34" charset="0"/>
              <a:buChar char="•"/>
            </a:pPr>
            <a:r>
              <a:rPr lang="en-US" sz="1800" b="1" dirty="0" smtClean="0"/>
              <a:t>Prompt engineering- </a:t>
            </a:r>
            <a:r>
              <a:rPr lang="en-US" sz="1800" dirty="0" smtClean="0"/>
              <a:t>for defining the goal of the agent</a:t>
            </a:r>
            <a:endParaRPr lang="en-US" sz="1800" dirty="0"/>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 xmlns:p14="http://schemas.microsoft.com/office/powerpoint/2010/main" val="37644058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xmlns=""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xmlns=""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xmlns=""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xmlns=""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xmlns=""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xmlns=""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xmlns=""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xmlns=""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App.py</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3" name="Picture 2"/>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3062638" y="1167846"/>
            <a:ext cx="8788770" cy="5210786"/>
          </a:xfrm>
          <a:prstGeom prst="rect">
            <a:avLst/>
          </a:prstGeom>
        </p:spPr>
      </p:pic>
    </p:spTree>
    <p:extLst>
      <p:ext uri="{BB962C8B-B14F-4D97-AF65-F5344CB8AC3E}">
        <p14:creationId xmlns="" xmlns:p14="http://schemas.microsoft.com/office/powerpoint/2010/main" val="3285263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xmlns=""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xmlns=""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330037" y="902898"/>
            <a:ext cx="9809018" cy="5815682"/>
          </a:xfrm>
          <a:prstGeom prst="rect">
            <a:avLst/>
          </a:prstGeom>
        </p:spPr>
      </p:pic>
    </p:spTree>
    <p:extLst>
      <p:ext uri="{BB962C8B-B14F-4D97-AF65-F5344CB8AC3E}">
        <p14:creationId xmlns="" xmlns:p14="http://schemas.microsoft.com/office/powerpoint/2010/main" val="27725019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8655" y="138545"/>
            <a:ext cx="9416360" cy="523220"/>
          </a:xfrm>
          <a:prstGeom prst="rect">
            <a:avLst/>
          </a:prstGeom>
          <a:noFill/>
        </p:spPr>
        <p:txBody>
          <a:bodyPr wrap="none" rtlCol="0">
            <a:spAutoFit/>
          </a:bodyPr>
          <a:lstStyle/>
          <a:p>
            <a:r>
              <a:rPr lang="en-US" sz="2800" b="1" dirty="0" smtClean="0"/>
              <a:t>User interface for </a:t>
            </a:r>
            <a:r>
              <a:rPr lang="en-US" sz="2800" b="1" dirty="0"/>
              <a:t>Intelligent Crop Marketing Assistant</a:t>
            </a:r>
            <a:endParaRPr lang="en-US" b="1" dirty="0"/>
          </a:p>
        </p:txBody>
      </p:sp>
      <p:pic>
        <p:nvPicPr>
          <p:cNvPr id="4" name="Picture 3"/>
          <p:cNvPicPr/>
          <p:nvPr/>
        </p:nvPicPr>
        <p:blipFill>
          <a:blip r:embed="rId2"/>
          <a:srcRect/>
          <a:stretch>
            <a:fillRect/>
          </a:stretch>
        </p:blipFill>
        <p:spPr bwMode="auto">
          <a:xfrm>
            <a:off x="1767841" y="879566"/>
            <a:ext cx="9030788" cy="5172891"/>
          </a:xfrm>
          <a:prstGeom prst="rect">
            <a:avLst/>
          </a:prstGeom>
          <a:noFill/>
          <a:ln w="9525">
            <a:noFill/>
            <a:miter lim="800000"/>
            <a:headEnd/>
            <a:tailEnd/>
          </a:ln>
        </p:spPr>
      </p:pic>
    </p:spTree>
    <p:extLst>
      <p:ext uri="{BB962C8B-B14F-4D97-AF65-F5344CB8AC3E}">
        <p14:creationId xmlns="" xmlns:p14="http://schemas.microsoft.com/office/powerpoint/2010/main" val="232371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a:blip r:embed="rId2"/>
          <a:srcRect/>
          <a:stretch>
            <a:fillRect/>
          </a:stretch>
        </p:blipFill>
        <p:spPr bwMode="auto">
          <a:xfrm>
            <a:off x="1776549" y="1018904"/>
            <a:ext cx="9117874" cy="5294810"/>
          </a:xfrm>
          <a:prstGeom prst="rect">
            <a:avLst/>
          </a:prstGeom>
          <a:noFill/>
          <a:ln w="9525">
            <a:noFill/>
            <a:miter lim="800000"/>
            <a:headEnd/>
            <a:tailEnd/>
          </a:ln>
        </p:spPr>
      </p:pic>
      <p:sp>
        <p:nvSpPr>
          <p:cNvPr id="6" name="Rectangle 5"/>
          <p:cNvSpPr/>
          <p:nvPr/>
        </p:nvSpPr>
        <p:spPr>
          <a:xfrm>
            <a:off x="567777" y="181038"/>
            <a:ext cx="7577715" cy="461665"/>
          </a:xfrm>
          <a:prstGeom prst="rect">
            <a:avLst/>
          </a:prstGeom>
        </p:spPr>
        <p:txBody>
          <a:bodyPr wrap="none">
            <a:spAutoFit/>
          </a:bodyPr>
          <a:lstStyle/>
          <a:p>
            <a:r>
              <a:rPr lang="en-US" sz="2400" b="1" dirty="0" smtClean="0">
                <a:solidFill>
                  <a:schemeClr val="dk1"/>
                </a:solidFill>
                <a:latin typeface="Calibri"/>
                <a:ea typeface="Calibri"/>
                <a:cs typeface="Calibri"/>
                <a:sym typeface="Calibri"/>
              </a:rPr>
              <a:t>User prompt for </a:t>
            </a:r>
            <a:r>
              <a:rPr lang="en-US" sz="2400" b="1" dirty="0" smtClean="0"/>
              <a:t>Intelligent Crop Marketing Assistant</a:t>
            </a:r>
            <a:endParaRPr lang="en-US" sz="2400"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xmlns=""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smtClean="0"/>
              <a:t>Response</a:t>
            </a:r>
            <a:endParaRPr lang="en-IN" sz="3200" b="1" dirty="0"/>
          </a:p>
        </p:txBody>
      </p:sp>
      <p:pic>
        <p:nvPicPr>
          <p:cNvPr id="3" name="Picture 2"/>
          <p:cNvPicPr/>
          <p:nvPr/>
        </p:nvPicPr>
        <p:blipFill>
          <a:blip r:embed="rId3"/>
          <a:srcRect/>
          <a:stretch>
            <a:fillRect/>
          </a:stretch>
        </p:blipFill>
        <p:spPr bwMode="auto">
          <a:xfrm>
            <a:off x="1358537" y="1281793"/>
            <a:ext cx="9622972" cy="438330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xmlns=""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9" name="Picture 8">
            <a:extLst>
              <a:ext uri="{FF2B5EF4-FFF2-40B4-BE49-F238E27FC236}">
                <a16:creationId xmlns:a16="http://schemas.microsoft.com/office/drawing/2014/main" xmlns="" id="{B1A56154-AEB9-E74F-A0DA-07CDBDC5B6DA}"/>
              </a:ext>
            </a:extLst>
          </p:cNvPr>
          <p:cNvPicPr>
            <a:picLocks noChangeAspect="1"/>
          </p:cNvPicPr>
          <p:nvPr/>
        </p:nvPicPr>
        <p:blipFill>
          <a:blip r:embed="rId3"/>
          <a:stretch>
            <a:fillRect/>
          </a:stretch>
        </p:blipFill>
        <p:spPr>
          <a:xfrm>
            <a:off x="324595" y="1233057"/>
            <a:ext cx="11447458" cy="5209308"/>
          </a:xfrm>
          <a:prstGeom prst="rect">
            <a:avLst/>
          </a:prstGeom>
        </p:spPr>
      </p:pic>
    </p:spTree>
    <p:extLst>
      <p:ext uri="{BB962C8B-B14F-4D97-AF65-F5344CB8AC3E}">
        <p14:creationId xmlns="" xmlns:p14="http://schemas.microsoft.com/office/powerpoint/2010/main" val="21154848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78DA0257-5105-834D-150D-50732C7248D1}"/>
              </a:ext>
            </a:extLst>
          </p:cNvPr>
          <p:cNvSpPr/>
          <p:nvPr/>
        </p:nvSpPr>
        <p:spPr>
          <a:xfrm>
            <a:off x="152470" y="112960"/>
            <a:ext cx="12232036" cy="704017"/>
          </a:xfrm>
          <a:prstGeom prst="rect">
            <a:avLst/>
          </a:prstGeom>
          <a:noFill/>
          <a:ln>
            <a:noFill/>
          </a:ln>
        </p:spPr>
        <p:txBody>
          <a:bodyPr spcFirstLastPara="1" wrap="square" lIns="0" tIns="0" rIns="0" bIns="0" anchor="t" anchorCtr="0">
            <a:noAutofit/>
          </a:bodyPr>
          <a:lstStyle/>
          <a:p>
            <a:pPr lvl="0"/>
            <a:r>
              <a:rPr lang="en-US" sz="2800" b="1" dirty="0">
                <a:solidFill>
                  <a:schemeClr val="dk1"/>
                </a:solidFill>
                <a:latin typeface="Calibri"/>
                <a:ea typeface="Calibri"/>
                <a:cs typeface="Calibri"/>
                <a:sym typeface="Calibri"/>
              </a:rPr>
              <a:t>Architecture blueprint for IBM </a:t>
            </a:r>
            <a:r>
              <a:rPr lang="en-US" sz="2800" b="1" dirty="0" smtClean="0">
                <a:solidFill>
                  <a:schemeClr val="dk1"/>
                </a:solidFill>
                <a:latin typeface="Calibri"/>
                <a:ea typeface="Calibri"/>
                <a:cs typeface="Calibri"/>
                <a:sym typeface="Calibri"/>
              </a:rPr>
              <a:t>bob for </a:t>
            </a:r>
            <a:r>
              <a:rPr lang="en-US" sz="2800" b="1" dirty="0"/>
              <a:t>Intelligent Crop Marketing Assistant</a:t>
            </a:r>
            <a:endParaRPr lang="en-US" sz="2400" dirty="0"/>
          </a:p>
        </p:txBody>
      </p:sp>
      <p:sp>
        <p:nvSpPr>
          <p:cNvPr id="280" name="Google Shape;280;p18">
            <a:extLst>
              <a:ext uri="{FF2B5EF4-FFF2-40B4-BE49-F238E27FC236}">
                <a16:creationId xmlns:a16="http://schemas.microsoft.com/office/drawing/2014/main" xmlns=""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xmlns=""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8" name="Picture 7"/>
          <p:cNvPicPr>
            <a:picLocks noChangeAspect="1"/>
          </p:cNvPicPr>
          <p:nvPr/>
        </p:nvPicPr>
        <p:blipFill>
          <a:blip r:embed="rId3">
            <a:extLst>
              <a:ext uri="{28A0092B-C50C-407E-A947-70E740481C1C}">
                <a14:useLocalDpi xmlns="" xmlns:a14="http://schemas.microsoft.com/office/drawing/2010/main" val="0"/>
              </a:ext>
            </a:extLst>
          </a:blip>
          <a:stretch>
            <a:fillRect/>
          </a:stretch>
        </p:blipFill>
        <p:spPr>
          <a:xfrm>
            <a:off x="1322224" y="1094518"/>
            <a:ext cx="9547552" cy="5250872"/>
          </a:xfrm>
          <a:prstGeom prst="rect">
            <a:avLst/>
          </a:prstGeom>
        </p:spPr>
      </p:pic>
    </p:spTree>
    <p:extLst>
      <p:ext uri="{BB962C8B-B14F-4D97-AF65-F5344CB8AC3E}">
        <p14:creationId xmlns="" xmlns:p14="http://schemas.microsoft.com/office/powerpoint/2010/main" val="14299618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xmlns=""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FA184BA-BCF2-3D7B-30D0-0F3CF30C161B}"/>
              </a:ext>
            </a:extLst>
          </p:cNvPr>
          <p:cNvSpPr txBox="1"/>
          <p:nvPr/>
        </p:nvSpPr>
        <p:spPr>
          <a:xfrm>
            <a:off x="777240" y="164519"/>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xmlns="" id="{ED65F54F-855A-0DB6-09A6-3212C5F7405B}"/>
              </a:ext>
            </a:extLst>
          </p:cNvPr>
          <p:cNvSpPr txBox="1"/>
          <p:nvPr/>
        </p:nvSpPr>
        <p:spPr>
          <a:xfrm>
            <a:off x="1178289" y="840955"/>
            <a:ext cx="9890763" cy="6155531"/>
          </a:xfrm>
          <a:prstGeom prst="rect">
            <a:avLst/>
          </a:prstGeom>
          <a:noFill/>
        </p:spPr>
        <p:txBody>
          <a:bodyPr wrap="square" rtlCol="0">
            <a:spAutoFit/>
          </a:bodyPr>
          <a:lstStyle/>
          <a:p>
            <a:pPr algn="just"/>
            <a:r>
              <a:rPr lang="en-US" sz="2000" dirty="0" smtClean="0"/>
              <a:t>The </a:t>
            </a:r>
            <a:r>
              <a:rPr lang="en-US" sz="2000" dirty="0"/>
              <a:t>proposed </a:t>
            </a:r>
            <a:r>
              <a:rPr lang="en-US" sz="2000" dirty="0" err="1"/>
              <a:t>AgriMarket</a:t>
            </a:r>
            <a:r>
              <a:rPr lang="en-US" sz="2000" dirty="0"/>
              <a:t> AI combines Agentic AI, RAG, and real-time market intelligence to deliver smart, personalized crop marketing recommendations.</a:t>
            </a:r>
          </a:p>
          <a:p>
            <a:pPr algn="just"/>
            <a:r>
              <a:rPr lang="en-US" sz="2000" b="1" dirty="0"/>
              <a:t>Multi-Agent Intelligence </a:t>
            </a:r>
            <a:r>
              <a:rPr lang="en-US" sz="2000" dirty="0"/>
              <a:t>– Two AI agents collaborate to collect market data and generate optimal selling strategies.</a:t>
            </a:r>
          </a:p>
          <a:p>
            <a:pPr algn="just"/>
            <a:r>
              <a:rPr lang="en-US" sz="2000" b="1" dirty="0" smtClean="0"/>
              <a:t>RAG-Powered </a:t>
            </a:r>
            <a:r>
              <a:rPr lang="en-US" sz="2000" b="1" dirty="0"/>
              <a:t>Insights </a:t>
            </a:r>
            <a:r>
              <a:rPr lang="en-US" sz="2000" dirty="0"/>
              <a:t>– Retrieves real-time crop prices, demand trends, MSP, and government schemes from trusted sources. </a:t>
            </a:r>
          </a:p>
          <a:p>
            <a:pPr algn="just"/>
            <a:r>
              <a:rPr lang="en-US" sz="2000" b="1" dirty="0"/>
              <a:t>Personalized Recommendations </a:t>
            </a:r>
            <a:r>
              <a:rPr lang="en-US" sz="2000" dirty="0"/>
              <a:t>– Suggests the best market, selling time, and pricing strategy based on crop, location, and transportation costs. </a:t>
            </a:r>
          </a:p>
          <a:p>
            <a:pPr algn="just"/>
            <a:r>
              <a:rPr lang="en-US" sz="2000" b="1" dirty="0"/>
              <a:t>Explainable AI </a:t>
            </a:r>
            <a:r>
              <a:rPr lang="en-US" sz="2000" dirty="0"/>
              <a:t>– Provides transparent reasoning behind every recommendation to build farmer trust. </a:t>
            </a:r>
          </a:p>
          <a:p>
            <a:pPr algn="just"/>
            <a:r>
              <a:rPr lang="en-US" sz="2000" b="1" dirty="0"/>
              <a:t>Real-Time Decision Support </a:t>
            </a:r>
            <a:r>
              <a:rPr lang="en-US" sz="2000" dirty="0"/>
              <a:t>– Continuously updates recommendations as market conditions change. </a:t>
            </a:r>
          </a:p>
          <a:p>
            <a:pPr algn="just"/>
            <a:r>
              <a:rPr lang="en-US" sz="2000" b="1" dirty="0"/>
              <a:t>Interactive Dashboard </a:t>
            </a:r>
            <a:r>
              <a:rPr lang="en-US" sz="2000" dirty="0"/>
              <a:t>– Displays market comparisons, price trends, profit estimates, and AI insights through intuitive visualizations. </a:t>
            </a:r>
          </a:p>
          <a:p>
            <a:pPr algn="just"/>
            <a:r>
              <a:rPr lang="en-US" sz="2000" b="1" dirty="0"/>
              <a:t>Enterprise-Ready Solution </a:t>
            </a:r>
            <a:r>
              <a:rPr lang="en-US" sz="2000" dirty="0"/>
              <a:t>– Built on IBM Bob, IBM watsonx.ai, IBM Cloud, and Granite Models for scalability, reliability, and AI governance. </a:t>
            </a:r>
          </a:p>
          <a:p>
            <a:pPr algn="just"/>
            <a:r>
              <a:rPr lang="en-US" sz="2000" dirty="0" err="1"/>
              <a:t>AgriMarket</a:t>
            </a:r>
            <a:r>
              <a:rPr lang="en-US" sz="2000" dirty="0"/>
              <a:t> AI is more than a price lookup tool—it is an intelligent AI-powered crop marketing advisor that enables farmers to maximize profits through data-driven decisions</a:t>
            </a:r>
            <a:r>
              <a:rPr lang="en-US" sz="2000" dirty="0" smtClean="0"/>
              <a:t>.</a:t>
            </a:r>
            <a:endParaRPr lang="en-US" sz="2000" dirty="0"/>
          </a:p>
        </p:txBody>
      </p:sp>
    </p:spTree>
    <p:extLst>
      <p:ext uri="{BB962C8B-B14F-4D97-AF65-F5344CB8AC3E}">
        <p14:creationId xmlns="" xmlns:p14="http://schemas.microsoft.com/office/powerpoint/2010/main" val="9179641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err="1">
                <a:sym typeface="Times New Roman"/>
              </a:rPr>
              <a:t>Git</a:t>
            </a:r>
            <a:r>
              <a:rPr lang="en-US" sz="2800" b="1" dirty="0">
                <a:sym typeface="Times New Roman"/>
              </a:rPr>
              <a:t> Hub Link</a:t>
            </a:r>
            <a:endParaRPr sz="2800" b="1">
              <a:sym typeface="Times New Roman"/>
            </a:endParaRPr>
          </a:p>
        </p:txBody>
      </p:sp>
      <p:sp>
        <p:nvSpPr>
          <p:cNvPr id="279" name="Google Shape;279;p18">
            <a:extLst>
              <a:ext uri="{FF2B5EF4-FFF2-40B4-BE49-F238E27FC236}">
                <a16:creationId xmlns:a16="http://schemas.microsoft.com/office/drawing/2014/main" xmlns=""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xmlns="" id="{1810CD56-B441-0C05-CADF-4C9A7439C3CC}"/>
              </a:ext>
            </a:extLst>
          </p:cNvPr>
          <p:cNvSpPr txBox="1"/>
          <p:nvPr/>
        </p:nvSpPr>
        <p:spPr>
          <a:xfrm>
            <a:off x="1044988" y="1696488"/>
            <a:ext cx="6517100" cy="1323439"/>
          </a:xfrm>
          <a:prstGeom prst="rect">
            <a:avLst/>
          </a:prstGeom>
          <a:noFill/>
        </p:spPr>
        <p:txBody>
          <a:bodyPr wrap="square" rtlCol="0">
            <a:spAutoFit/>
          </a:bodyPr>
          <a:lstStyle/>
          <a:p>
            <a:r>
              <a:rPr lang="en-IN" sz="2000" dirty="0" smtClean="0"/>
              <a:t>1. Generative AI in Action </a:t>
            </a:r>
            <a:r>
              <a:rPr lang="en-IN" sz="2000" dirty="0" err="1" smtClean="0"/>
              <a:t>Credly</a:t>
            </a:r>
            <a:r>
              <a:rPr lang="en-IN" sz="2000" dirty="0" smtClean="0"/>
              <a:t> Certificate</a:t>
            </a:r>
          </a:p>
          <a:p>
            <a:r>
              <a:rPr lang="en-IN" sz="2000" dirty="0" smtClean="0"/>
              <a:t>2. IBM BOB Certificate</a:t>
            </a:r>
          </a:p>
          <a:p>
            <a:r>
              <a:rPr lang="en-IN" sz="2000" dirty="0" smtClean="0"/>
              <a:t>3. PPT</a:t>
            </a:r>
          </a:p>
          <a:p>
            <a:r>
              <a:rPr lang="en-IN" sz="2000" dirty="0" smtClean="0"/>
              <a:t>4. Problem Statement</a:t>
            </a:r>
            <a:endParaRPr lang="en-IN" sz="2000" dirty="0"/>
          </a:p>
        </p:txBody>
      </p:sp>
      <p:sp>
        <p:nvSpPr>
          <p:cNvPr id="8" name="TextBox 7"/>
          <p:cNvSpPr txBox="1"/>
          <p:nvPr/>
        </p:nvSpPr>
        <p:spPr>
          <a:xfrm>
            <a:off x="1095153" y="1190847"/>
            <a:ext cx="9473610" cy="307777"/>
          </a:xfrm>
          <a:prstGeom prst="rect">
            <a:avLst/>
          </a:prstGeom>
          <a:noFill/>
        </p:spPr>
        <p:txBody>
          <a:bodyPr wrap="square" rtlCol="0">
            <a:spAutoFit/>
          </a:bodyPr>
          <a:lstStyle/>
          <a:p>
            <a:endParaRPr lang="en-US" dirty="0"/>
          </a:p>
        </p:txBody>
      </p:sp>
      <p:sp>
        <p:nvSpPr>
          <p:cNvPr id="9" name="Rectangle 8"/>
          <p:cNvSpPr/>
          <p:nvPr/>
        </p:nvSpPr>
        <p:spPr>
          <a:xfrm>
            <a:off x="1144771" y="1062144"/>
            <a:ext cx="9626009" cy="307777"/>
          </a:xfrm>
          <a:prstGeom prst="rect">
            <a:avLst/>
          </a:prstGeom>
        </p:spPr>
        <p:txBody>
          <a:bodyPr wrap="square">
            <a:spAutoFit/>
          </a:bodyPr>
          <a:lstStyle/>
          <a:p>
            <a:r>
              <a:rPr lang="en-US" dirty="0" smtClean="0">
                <a:hlinkClick r:id="rId3"/>
              </a:rPr>
              <a:t>https</a:t>
            </a:r>
            <a:r>
              <a:rPr lang="en-US" smtClean="0">
                <a:hlinkClick r:id="rId3"/>
              </a:rPr>
              <a:t>://github.com/drrameshrudraa-arch/Intelligent-Crop-Marketing-Assistant.git</a:t>
            </a:r>
            <a:r>
              <a:rPr lang="en-US" smtClean="0"/>
              <a:t> </a:t>
            </a:r>
            <a:endParaRPr lang="en-US" dirty="0"/>
          </a:p>
        </p:txBody>
      </p:sp>
    </p:spTree>
    <p:extLst>
      <p:ext uri="{BB962C8B-B14F-4D97-AF65-F5344CB8AC3E}">
        <p14:creationId xmlns="" xmlns:p14="http://schemas.microsoft.com/office/powerpoint/2010/main" val="26058519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xmlns=""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xmlns=""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xmlns=""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xmlns=""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xmlns=""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xmlns=""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p:cNvSpPr txBox="1"/>
          <p:nvPr/>
        </p:nvSpPr>
        <p:spPr>
          <a:xfrm>
            <a:off x="1379621" y="1363579"/>
            <a:ext cx="9657347" cy="5539978"/>
          </a:xfrm>
          <a:prstGeom prst="rect">
            <a:avLst/>
          </a:prstGeom>
          <a:noFill/>
        </p:spPr>
        <p:txBody>
          <a:bodyPr wrap="square" rtlCol="0">
            <a:spAutoFit/>
          </a:bodyPr>
          <a:lstStyle/>
          <a:p>
            <a:r>
              <a:rPr lang="en-US" sz="2000" b="1" dirty="0"/>
              <a:t>AI Price Forecasting</a:t>
            </a:r>
            <a:r>
              <a:rPr lang="en-US" sz="2000" dirty="0"/>
              <a:t> – Predict future crop prices using historical data, weather, and demand trends. </a:t>
            </a:r>
          </a:p>
          <a:p>
            <a:r>
              <a:rPr lang="en-US" sz="2000" b="1" dirty="0" err="1"/>
              <a:t>IoT</a:t>
            </a:r>
            <a:r>
              <a:rPr lang="en-US" sz="2000" b="1" dirty="0"/>
              <a:t> Integration</a:t>
            </a:r>
            <a:r>
              <a:rPr lang="en-US" sz="2000" dirty="0"/>
              <a:t> – Use smart sensors for real-time farm, soil, and weather monitoring. </a:t>
            </a:r>
          </a:p>
          <a:p>
            <a:r>
              <a:rPr lang="en-US" sz="2000" b="1" dirty="0"/>
              <a:t>Multilingual Voice Support</a:t>
            </a:r>
            <a:r>
              <a:rPr lang="en-US" sz="2000" dirty="0"/>
              <a:t> – Enable voice-based assistance in regional languages for better accessibility. </a:t>
            </a:r>
          </a:p>
          <a:p>
            <a:r>
              <a:rPr lang="en-US" sz="2000" b="1" dirty="0" err="1"/>
              <a:t>Blockchain</a:t>
            </a:r>
            <a:r>
              <a:rPr lang="en-US" sz="2000" b="1" dirty="0"/>
              <a:t> Traceability</a:t>
            </a:r>
            <a:r>
              <a:rPr lang="en-US" sz="2000" dirty="0"/>
              <a:t> – Ensure transparent and secure farm-to-market supply chain tracking. </a:t>
            </a:r>
          </a:p>
          <a:p>
            <a:r>
              <a:rPr lang="en-US" sz="2000" b="1" dirty="0"/>
              <a:t>Direct Buyer Marketplace</a:t>
            </a:r>
            <a:r>
              <a:rPr lang="en-US" sz="2000" dirty="0"/>
              <a:t> – Connect farmers directly with buyers, retailers, and exporters. </a:t>
            </a:r>
          </a:p>
          <a:p>
            <a:r>
              <a:rPr lang="en-US" sz="2000" b="1" dirty="0"/>
              <a:t>Government Integration</a:t>
            </a:r>
            <a:r>
              <a:rPr lang="en-US" sz="2000" dirty="0"/>
              <a:t> – Provide real-time access to MSP, subsidies, crop insurance, and agricultural schemes. </a:t>
            </a:r>
          </a:p>
          <a:p>
            <a:r>
              <a:rPr lang="en-US" sz="2000" b="1" dirty="0"/>
              <a:t>Scalable AI Platform</a:t>
            </a:r>
            <a:r>
              <a:rPr lang="en-US" sz="2000" dirty="0"/>
              <a:t> – Expand to support multiple crops, regions, and international markets using IBM Cloud. </a:t>
            </a:r>
          </a:p>
          <a:p>
            <a:r>
              <a:rPr lang="en-US" sz="2000" b="1" dirty="0"/>
              <a:t>Future Vision:</a:t>
            </a:r>
            <a:r>
              <a:rPr lang="en-US" sz="2000" dirty="0"/>
              <a:t> Transform </a:t>
            </a:r>
            <a:r>
              <a:rPr lang="en-US" sz="2000" b="1" dirty="0" err="1"/>
              <a:t>AgriMarket</a:t>
            </a:r>
            <a:r>
              <a:rPr lang="en-US" sz="2000" b="1" dirty="0"/>
              <a:t> AI</a:t>
            </a:r>
            <a:r>
              <a:rPr lang="en-US" sz="2000" dirty="0"/>
              <a:t> into a </a:t>
            </a:r>
            <a:r>
              <a:rPr lang="en-US" sz="2000" b="1" dirty="0"/>
              <a:t>comprehensive AI-powered digital agriculture platform</a:t>
            </a:r>
            <a:r>
              <a:rPr lang="en-US" sz="2000" dirty="0"/>
              <a:t> that empowers farmers with predictive insights, intelligent decision-making, and sustainable, profitable farming.</a:t>
            </a:r>
          </a:p>
          <a:p>
            <a:endParaRPr lang="en-US" dirty="0"/>
          </a:p>
        </p:txBody>
      </p:sp>
    </p:spTree>
    <p:extLst>
      <p:ext uri="{BB962C8B-B14F-4D97-AF65-F5344CB8AC3E}">
        <p14:creationId xmlns="" xmlns:p14="http://schemas.microsoft.com/office/powerpoint/2010/main" val="213670672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a:t>
            </a:r>
            <a:r>
              <a:rPr lang="en-US" sz="2400" b="1" dirty="0" smtClean="0"/>
              <a:t>Earned:1</a:t>
            </a:r>
            <a:endParaRPr lang="en-US" sz="2400" b="1" dirty="0"/>
          </a:p>
          <a:p>
            <a:pPr algn="ctr"/>
            <a:endParaRPr lang="en-US" dirty="0"/>
          </a:p>
        </p:txBody>
      </p:sp>
      <p:sp>
        <p:nvSpPr>
          <p:cNvPr id="3" name="TextBox 2">
            <a:extLst>
              <a:ext uri="{FF2B5EF4-FFF2-40B4-BE49-F238E27FC236}">
                <a16:creationId xmlns:a16="http://schemas.microsoft.com/office/drawing/2014/main" xmlns="" id="{4837D5EE-379B-FDC5-0854-8AC81D31FADF}"/>
              </a:ext>
            </a:extLst>
          </p:cNvPr>
          <p:cNvSpPr txBox="1"/>
          <p:nvPr/>
        </p:nvSpPr>
        <p:spPr>
          <a:xfrm>
            <a:off x="552048" y="690061"/>
            <a:ext cx="9949697"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 </a:t>
            </a:r>
            <a:r>
              <a:rPr lang="en-US" sz="2800" b="1" dirty="0" smtClean="0"/>
              <a:t>Generative AI in Action </a:t>
            </a:r>
            <a:r>
              <a:rPr lang="en-US" sz="2800" b="1" dirty="0"/>
              <a:t>certificate </a:t>
            </a:r>
          </a:p>
        </p:txBody>
      </p:sp>
      <p:pic>
        <p:nvPicPr>
          <p:cNvPr id="1026" name="Picture 2" descr="D:\RR\ibm\ramesh_generative AI_page-0001.jpg"/>
          <p:cNvPicPr>
            <a:picLocks noChangeAspect="1" noChangeArrowheads="1"/>
          </p:cNvPicPr>
          <p:nvPr/>
        </p:nvPicPr>
        <p:blipFill>
          <a:blip r:embed="rId2"/>
          <a:srcRect/>
          <a:stretch>
            <a:fillRect/>
          </a:stretch>
        </p:blipFill>
        <p:spPr bwMode="auto">
          <a:xfrm>
            <a:off x="2531286" y="1598157"/>
            <a:ext cx="6391808" cy="4939124"/>
          </a:xfrm>
          <a:prstGeom prst="rect">
            <a:avLst/>
          </a:prstGeom>
          <a:noFill/>
        </p:spPr>
      </p:pic>
    </p:spTree>
    <p:extLst>
      <p:ext uri="{BB962C8B-B14F-4D97-AF65-F5344CB8AC3E}">
        <p14:creationId xmlns="" xmlns:p14="http://schemas.microsoft.com/office/powerpoint/2010/main" val="12290476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dirty="0">
                <a:solidFill>
                  <a:srgbClr val="000000"/>
                </a:solidFill>
                <a:latin typeface="Arial"/>
              </a:rPr>
              <a:t>Certificates Earned:</a:t>
            </a:r>
            <a:r>
              <a:rPr sz="2400" b="0" i="0" dirty="0" smtClean="0">
                <a:solidFill>
                  <a:srgbClr val="000000"/>
                </a:solidFill>
                <a:latin typeface="Arial"/>
                <a:ea typeface="Arial"/>
                <a:cs typeface="Arial"/>
              </a:rPr>
              <a:t>​</a:t>
            </a:r>
            <a:r>
              <a:rPr lang="en-US" sz="2400" b="0" i="0" dirty="0" smtClean="0">
                <a:solidFill>
                  <a:srgbClr val="000000"/>
                </a:solidFill>
                <a:latin typeface="Arial"/>
                <a:ea typeface="Arial"/>
                <a:cs typeface="Arial"/>
              </a:rPr>
              <a:t>2</a:t>
            </a:r>
            <a:endParaRPr lang="en-US" dirty="0"/>
          </a:p>
          <a:p>
            <a:pPr algn="ctr"/>
            <a:endParaRPr lang="en-US" dirty="0"/>
          </a:p>
        </p:txBody>
      </p:sp>
      <p:sp>
        <p:nvSpPr>
          <p:cNvPr id="6" name="TextBox 5">
            <a:extLst>
              <a:ext uri="{FF2B5EF4-FFF2-40B4-BE49-F238E27FC236}">
                <a16:creationId xmlns:a16="http://schemas.microsoft.com/office/drawing/2014/main" xmlns=""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pic>
        <p:nvPicPr>
          <p:cNvPr id="2050" name="Picture 2" descr="D:\RR\ibm\Untitled.jpg"/>
          <p:cNvPicPr>
            <a:picLocks noChangeAspect="1" noChangeArrowheads="1"/>
          </p:cNvPicPr>
          <p:nvPr/>
        </p:nvPicPr>
        <p:blipFill>
          <a:blip r:embed="rId2"/>
          <a:srcRect/>
          <a:stretch>
            <a:fillRect/>
          </a:stretch>
        </p:blipFill>
        <p:spPr bwMode="auto">
          <a:xfrm>
            <a:off x="2442807" y="1674624"/>
            <a:ext cx="7524750" cy="4600575"/>
          </a:xfrm>
          <a:prstGeom prst="rect">
            <a:avLst/>
          </a:prstGeom>
          <a:noFill/>
        </p:spPr>
      </p:pic>
    </p:spTree>
    <p:extLst>
      <p:ext uri="{BB962C8B-B14F-4D97-AF65-F5344CB8AC3E}">
        <p14:creationId xmlns="" xmlns:p14="http://schemas.microsoft.com/office/powerpoint/2010/main" val="250661074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4C2F9E3-E681-3E26-6140-9B420F57D653}"/>
              </a:ext>
            </a:extLst>
          </p:cNvPr>
          <p:cNvSpPr>
            <a:spLocks noGrp="1"/>
          </p:cNvSpPr>
          <p:nvPr>
            <p:ph type="title"/>
          </p:nvPr>
        </p:nvSpPr>
        <p:spPr>
          <a:xfrm>
            <a:off x="923290" y="932118"/>
            <a:ext cx="10515600" cy="722566"/>
          </a:xfrm>
        </p:spPr>
        <p:txBody>
          <a:bodyPr>
            <a:normAutofit fontScale="90000"/>
          </a:bodyPr>
          <a:lstStyle/>
          <a:p>
            <a:r>
              <a:rPr lang="en-US" dirty="0"/>
              <a:t>IBM SKILLS BUILD PROFILE</a:t>
            </a:r>
            <a:endParaRPr lang="en-IN" dirty="0"/>
          </a:p>
        </p:txBody>
      </p:sp>
      <p:pic>
        <p:nvPicPr>
          <p:cNvPr id="4" name="Picture 3" descr="C:\Users\JITS\Downloads\WhatsApp Image 2026-06-30 at 2.55.53 PM.jpeg"/>
          <p:cNvPicPr>
            <a:picLocks noChangeAspect="1" noChangeArrowheads="1"/>
          </p:cNvPicPr>
          <p:nvPr/>
        </p:nvPicPr>
        <p:blipFill>
          <a:blip r:embed="rId2"/>
          <a:srcRect/>
          <a:stretch>
            <a:fillRect/>
          </a:stretch>
        </p:blipFill>
        <p:spPr bwMode="auto">
          <a:xfrm>
            <a:off x="2625999" y="2364045"/>
            <a:ext cx="6735406" cy="323868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 xmlns:p14="http://schemas.microsoft.com/office/powerpoint/2010/main" val="1669583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840</TotalTime>
  <Words>952</Words>
  <Application>Microsoft Office PowerPoint</Application>
  <PresentationFormat>Custom</PresentationFormat>
  <Paragraphs>111</Paragraphs>
  <Slides>19</Slides>
  <Notes>13</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IBM University Engagement Project Submission </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IBM SKILLS BUILD PROFILE</vt:lpstr>
      <vt:lpstr>Slide 19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pslab</cp:lastModifiedBy>
  <cp:revision>52</cp:revision>
  <dcterms:created xsi:type="dcterms:W3CDTF">2025-07-08T05:06:56Z</dcterms:created>
  <dcterms:modified xsi:type="dcterms:W3CDTF">2026-07-06T05:43:59Z</dcterms:modified>
</cp:coreProperties>
</file>